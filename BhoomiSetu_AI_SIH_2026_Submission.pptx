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325880"/>
            <a:ext cx="5943600" cy="1234440"/>
          </a:xfrm>
          <a:prstGeom prst="roundRect">
            <a:avLst/>
          </a:prstGeom>
          <a:solidFill>
            <a:srgbClr val="0F2744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55778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BhoomiSetu-AI  (भूमिसेतु / ଭୂମିସେତୁ)</a:t>
            </a:r>
          </a:p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Predictive Analytics &amp; Visual Governance System for Early Detection of Land Acquisition Delays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Shifting Acquisition from Reactive Firefighting to Proactive Early Intervention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97480"/>
            <a:ext cx="594360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744"/>
                </a:solidFill>
                <a:latin typeface="Segoe UI"/>
              </a:defRPr>
            </a:pPr>
            <a:r>
              <a:t>OFFICIAL SUBMISSION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548640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744"/>
                </a:solidFill>
                <a:latin typeface="Segoe UI"/>
              </a:rPr>
              <a:t>• Problem Statement ID – </a:t>
            </a:r>
            <a:r>
              <a:rPr sz="1050" b="1">
                <a:solidFill>
                  <a:srgbClr val="0070C0"/>
                </a:solidFill>
                <a:latin typeface="Segoe UI"/>
              </a:rPr>
              <a:t>26017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48456"/>
            <a:ext cx="548640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744"/>
                </a:solidFill>
                <a:latin typeface="Segoe UI"/>
              </a:rPr>
              <a:t>• Problem Statement Title – </a:t>
            </a:r>
            <a:r>
              <a:rPr sz="1050" b="1">
                <a:solidFill>
                  <a:srgbClr val="0070C0"/>
                </a:solidFill>
                <a:latin typeface="Segoe UI"/>
              </a:rPr>
              <a:t>Predictive Analytics of Land Acquisition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50791"/>
            <a:ext cx="548640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744"/>
                </a:solidFill>
                <a:latin typeface="Segoe UI"/>
              </a:rPr>
              <a:t>• Theme – </a:t>
            </a:r>
            <a:r>
              <a:rPr sz="1050" b="1">
                <a:solidFill>
                  <a:srgbClr val="0070C0"/>
                </a:solidFill>
                <a:latin typeface="Segoe UI"/>
              </a:rPr>
              <a:t>Smart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53128"/>
            <a:ext cx="548640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744"/>
                </a:solidFill>
                <a:latin typeface="Segoe UI"/>
              </a:rPr>
              <a:t>• PS Category – </a:t>
            </a:r>
            <a:r>
              <a:rPr sz="1050" b="1">
                <a:solidFill>
                  <a:srgbClr val="0070C0"/>
                </a:solidFill>
                <a:latin typeface="Segoe UI"/>
              </a:rPr>
              <a:t>Software Edition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55464"/>
            <a:ext cx="548640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744"/>
                </a:solidFill>
                <a:latin typeface="Segoe UI"/>
              </a:rPr>
              <a:t>• Team ID – </a:t>
            </a:r>
            <a:r>
              <a:rPr sz="1050" b="1">
                <a:solidFill>
                  <a:srgbClr val="0070C0"/>
                </a:solidFill>
                <a:latin typeface="Segoe UI"/>
              </a:rPr>
              <a:t>SIH2026-TEAM-BHOOMOBYTES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548640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744"/>
                </a:solidFill>
                <a:latin typeface="Segoe UI"/>
              </a:rPr>
              <a:t>• Team Name (Registered on portal) – </a:t>
            </a:r>
            <a:r>
              <a:rPr sz="1050" b="1">
                <a:solidFill>
                  <a:srgbClr val="0070C0"/>
                </a:solidFill>
                <a:latin typeface="Segoe UI"/>
              </a:rPr>
              <a:t>BHOOMOBYTES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806440"/>
            <a:ext cx="59436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5216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D5C3A"/>
                </a:solidFill>
                <a:latin typeface="Segoe UI"/>
              </a:defRPr>
            </a:pPr>
            <a:r>
              <a:t>★ WORKING PROTOTYPE VALIDATED: React GIS + FastAPI + Scikit-Learn (92.8% Acc, MAE 20.6d)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70C0"/>
                </a:solidFill>
                <a:latin typeface="Segoe UI"/>
              </a:defRPr>
            </a:pPr>
            <a:r>
              <a:t>Proposed Solution (Describe your Idea/Solution/Prototype)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Shift from Reactive Delay Handling to Predictive, Visual, and Proactive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7872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73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1. ADDRESSING 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273552" cy="1691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090672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Segoe UI"/>
              </a:defRPr>
            </a:pPr>
            <a:r>
              <a:t>TRADITIONAL REACTIVE PROCESS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• Late Detection: Bottlenecks discovered only after statutory milestones lapse (&gt;180 days lost).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• Dense Paperwork: Field staff manually decode 40-page Khatians and paper title deeds.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• Departmental Silos: LAO, Surveyors, and Compensation lack shared real-time status.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• Landowner Distrust: Lack of tracking creates disputes and prolonged court stays.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23360"/>
            <a:ext cx="3273552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090672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D5C3A"/>
                </a:solidFill>
                <a:latin typeface="Segoe UI"/>
              </a:defRPr>
            </a:pPr>
            <a:r>
              <a:t>BHOOMISETU PREDICTIVE SHIFT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✔ Day-0 Early Detection: ML risk engine scores cases at initial project registration.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✔ Root-Cause Identification: Identifies exact drivers (disputes, missing papers).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✔ Dynamic Recalculation Loop: Officer action immediately drops risk (84% ➔ 45%).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✔ Cadastral Geo-Visualization: Slices plots to highlight disputed portions in red.</a:t>
            </a:r>
          </a:p>
          <a:p>
            <a:pPr>
              <a:defRPr sz="780">
                <a:solidFill>
                  <a:srgbClr val="0F172A"/>
                </a:solidFill>
                <a:latin typeface="Segoe UI"/>
              </a:defRPr>
            </a:pPr>
            <a:r>
              <a:t>✔ Transparent Citizen Bridge: Multilingual SMS + portal updates for farmers.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37360"/>
            <a:ext cx="3547872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3273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2. DETAILED PROPOSED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240280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76856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👤 Land Acquisition Officer (LAO)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Executive Triage &amp; Task Dispatch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Monitors corridor delay probability, triages high-risk villages, assigns field survey tasks, sanctions awards.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3227832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264408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D5C3A"/>
                </a:solidFill>
                <a:latin typeface="Segoe UI"/>
              </a:defRPr>
            </a:pPr>
            <a:r>
              <a:t>👤 Survey Officer (SO)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Cadastral Verification &amp; Demarcation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Verifies boundaries via GIS demarcation, inspects disputed plot slices, logs physical field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4215384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251960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👤 Compensation Officer (CO)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9-Stage Disbursement Pipeline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Maintains escrow accounts, verifies Aadhaar/bank passbook OCR scans, tracks RTGS payouts with zero leakage.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5202936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5239512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D5C3A"/>
                </a:solidFill>
                <a:latin typeface="Segoe UI"/>
              </a:defRPr>
            </a:pPr>
            <a:r>
              <a:t>👤 Landowner / Citizen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Empowerment &amp; Instant Grievance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Trilingual portal (EN/HI/OR) to track case progress, upload RoR deeds, and file instant grievance tickets.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737360"/>
            <a:ext cx="3547872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3273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3. INNOVATION &amp; UNIQUENESS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240280"/>
            <a:ext cx="3273552" cy="2057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4192" y="2395728"/>
            <a:ext cx="2944368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94192" y="2395728"/>
            <a:ext cx="1691640" cy="1280160"/>
          </a:xfrm>
          <a:prstGeom prst="rect">
            <a:avLst/>
          </a:prstGeom>
          <a:solidFill>
            <a:srgbClr val="C7D2F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3108960"/>
            <a:ext cx="1691640" cy="566928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423160"/>
            <a:ext cx="2816352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80" b="1">
                <a:solidFill>
                  <a:srgbClr val="0F2744"/>
                </a:solidFill>
              </a:defRPr>
            </a:pPr>
            <a:r>
              <a:t>Total Land Parcel: 1.00 Acre (Plot #142/A)</a:t>
            </a:r>
          </a:p>
          <a:p>
            <a:pPr>
              <a:defRPr sz="750" b="1">
                <a:solidFill>
                  <a:srgbClr val="1B365D"/>
                </a:solidFill>
              </a:defRPr>
            </a:pPr>
            <a:r>
              <a:t>▶ Required for Corridor: 0.50 Acre</a:t>
            </a:r>
          </a:p>
          <a:p>
            <a:pPr>
              <a:defRPr sz="750" b="1">
                <a:solidFill>
                  <a:srgbClr val="EF4444"/>
                </a:solidFill>
              </a:defRPr>
            </a:pPr>
            <a:r>
              <a:t>⚠ DISPUTED SLICE (0.18 Acre): Partition stay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49040"/>
            <a:ext cx="3273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">
                <a:solidFill>
                  <a:srgbClr val="64748B"/>
                </a:solidFill>
              </a:defRPr>
            </a:pPr>
            <a:r>
              <a:t>Transforms dense Khatians into interactive boundary demarcation with real-time risk alerts.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343400"/>
            <a:ext cx="3273552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3090672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KEY DIFFERENTIATORS: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Micro-Demarcation: Isolates disputed 0.18 Ac so uncontested 0.32 Ac proceeds immediately.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RapidFuzz OCR Discrepancy Engine: Scans deeds and flags name/khatian typos before submission.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Actionable Recommendations: Generates specific legal task queues, not just abstract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70C0"/>
                </a:solidFill>
                <a:latin typeface="Segoe UI"/>
              </a:defRPr>
            </a:pPr>
            <a:r>
              <a:t>Technologies to be Used &amp; Methodology for Implementation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Production-Ready Architecture, 6-Stage Process Flow, and Validated Machine Learning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7872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73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TECHNOLOGIES TO BE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76856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⚙ Frontend Layer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React 18 + Vite + Tailwind CSS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Leaflet GIS maps, Recharts analytics, Lucide icons, i18next multilingual engine (English, Hindi, Odia).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27832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64408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D5C3A"/>
                </a:solidFill>
                <a:latin typeface="Segoe UI"/>
              </a:defRPr>
            </a:pPr>
            <a:r>
              <a:t>⚙ Backend API Layer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FastAPI (Python 3.11) + Pydantic v2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Asynchronous REST endpoints (&lt;45ms latency), JWT role authorization, RapidFuzz OCR string discrepancy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15384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⚙ Database &amp; Geospatial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PostGIS / PostgreSQL + SQLite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Cadastral GeoJSON polygon layers, spatial coordinate indexing, relational schema for 80+ seed parcels.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02936"/>
            <a:ext cx="3273552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39512"/>
            <a:ext cx="3090672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D5C3A"/>
                </a:solidFill>
                <a:latin typeface="Segoe UI"/>
              </a:defRPr>
            </a:pPr>
            <a:r>
              <a:t>⚙ ML Decision Engine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Scikit-Learn + SHAP + Joblib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Random Forest Classifier &amp; Regressor, TreeExplainer for feature attribution, dynamic recalculation 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37360"/>
            <a:ext cx="3547872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828800"/>
            <a:ext cx="3273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METHODOLOGY &amp; PROCESS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2240280"/>
            <a:ext cx="327355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276856"/>
            <a:ext cx="3090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F2744"/>
                </a:solidFill>
                <a:latin typeface="Segoe UI"/>
              </a:defRPr>
            </a:pPr>
            <a:r>
              <a:t>Step 1: Case Registration &amp; Deed Upload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Project corridor initialized; RoR deeds ingested.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2898648"/>
            <a:ext cx="3273552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935224"/>
            <a:ext cx="3090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F2744"/>
                </a:solidFill>
                <a:latin typeface="Segoe UI"/>
              </a:defRPr>
            </a:pPr>
            <a:r>
              <a:t>Step 2: RapidFuzz OCR Discrepancy Scan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Fuzzy string match catches name/khatian typos.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557016"/>
            <a:ext cx="3273552" cy="6217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593592"/>
            <a:ext cx="3090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Step 3: 17-Factor Statutory Feature Ingestion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Ingests dispute counts, survey %, and clearances.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4215384"/>
            <a:ext cx="3273552" cy="6217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251960"/>
            <a:ext cx="3090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EF4444"/>
                </a:solidFill>
                <a:latin typeface="Segoe UI"/>
              </a:defRPr>
            </a:pPr>
            <a:r>
              <a:t>Step 4: Dual ML Inference &amp; SHAP Explain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Calculates delay probability, days, and root causes.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4873752"/>
            <a:ext cx="3273552" cy="6217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4910328"/>
            <a:ext cx="3090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D5C3A"/>
                </a:solidFill>
                <a:latin typeface="Segoe UI"/>
              </a:defRPr>
            </a:pPr>
            <a:r>
              <a:t>Step 5: Visual Survey Cadastral Demarcation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Surveyor verifies boundaries on interactive GIS map.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5532120"/>
            <a:ext cx="3273552" cy="6217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5568696"/>
            <a:ext cx="309067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10B981"/>
                </a:solidFill>
                <a:latin typeface="Segoe UI"/>
              </a:defRPr>
            </a:pPr>
            <a:r>
              <a:t>Step 6: Dynamic Risk Recalculation Loop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Officer action drops case risk immediately (84% ➔ 45%).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737360"/>
            <a:ext cx="3547872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828800"/>
            <a:ext cx="3273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ML PREDICTION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240280"/>
            <a:ext cx="3273552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286000"/>
            <a:ext cx="3090672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VALIDATED TEST BENCHMARKS: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• Random Forest Classifier (150 Trees):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  - Test Accuracy: 92.8%  |  ROC-AUC: 0.970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  - Precision: 95.8%  |  Recall: 95.8%  |  F1: 95.8%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• Random Forest Regressor (150 Trees):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  - Mean Absolute Error (MAE): 20.65 Days</a:t>
            </a:r>
          </a:p>
          <a:p>
            <a:pPr>
              <a:defRPr sz="750">
                <a:solidFill>
                  <a:srgbClr val="0F172A"/>
                </a:solidFill>
                <a:latin typeface="Segoe UI"/>
              </a:defRPr>
            </a:pPr>
            <a:r>
              <a:t>  - Root Mean Sq Error (RMSE): 28.03 Days | R²: 0.814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160520"/>
            <a:ext cx="3273552" cy="1965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206240"/>
            <a:ext cx="3090672" cy="18745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SHAP EXPLAINABILITY BREAKDOWN: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1. Active Title / Co-Sharer Disputes: +38% Risk impact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2. Cadastral Field Survey Pending (&lt;70%): +28% Risk impact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3. Missing / Discrepant RoR Deeds: +22% Risk impact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4. Delayed Compensation Pipeline (&lt;50%): +18% Risk impact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5. Overdue Statutory Milestone: +16% Risk impact</a:t>
            </a:r>
          </a:p>
          <a:p>
            <a:pPr>
              <a:defRPr sz="680" i="1">
                <a:solidFill>
                  <a:srgbClr val="64748B"/>
                </a:solidFill>
              </a:defRPr>
            </a:pPr>
            <a:r>
              <a:t>⚖ Note: Advisory intelligence; statutory awards require human sign-off.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70C0"/>
                </a:solidFill>
                <a:latin typeface="Segoe UI"/>
              </a:defRPr>
            </a:pPr>
            <a:r>
              <a:t>Analysis of Feasibility, Potential Challenges, and Practical Mitigation Strategies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Systematic 4-Pillar Evaluation &amp; Production Risk Control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3347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2240821324800" cy="18745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2744"/>
                </a:solidFill>
                <a:latin typeface="Segoe UI"/>
              </a:defRPr>
            </a:pPr>
            <a:r>
              <a:t>✔ Technical Feasibility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Low-Overhead Stack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REST API response time &lt;45ms.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Runs on standard commodity servers or state cloud (NIC / MeghRaj).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Zero proprietary GIS vendor lock-in (uses Leaflet &amp; GeoJSON).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737360"/>
            <a:ext cx="263347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6432" y="1810512"/>
            <a:ext cx="2240821324800" cy="18745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D5C3A"/>
                </a:solidFill>
                <a:latin typeface="Segoe UI"/>
              </a:defRPr>
            </a:pPr>
            <a:r>
              <a:t>✔ Operational Feasibility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Role-Tailored Workflows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Fits directly into daily duties of LAO, Survey, and Compensation Officers.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Zero workflow disruption: pairs alongside existing e-Office steps.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Trilingual citizen portal (EN/HI/OR) ensures easy farmer adoption.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63347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810512"/>
            <a:ext cx="2240821324800" cy="18745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2744"/>
                </a:solidFill>
                <a:latin typeface="Segoe UI"/>
              </a:defRPr>
            </a:pPr>
            <a:r>
              <a:t>✔ Legal Feasibility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RFCTLARR Act 2013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Strict statutory mapping to Sec 11, 19, and 25 award deadlines.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Role-based immutable audit trail preserves evidentiary court integrity.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Human-in-the-loop: AI remains strictly advisory.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1737360"/>
            <a:ext cx="263347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810512"/>
            <a:ext cx="2240821324800" cy="18745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D5C3A"/>
                </a:solidFill>
                <a:latin typeface="Segoe UI"/>
              </a:defRPr>
            </a:pPr>
            <a:r>
              <a:t>✔ Financial Viability</a:t>
            </a:r>
          </a:p>
          <a:p>
            <a:pPr>
              <a:defRPr sz="750" b="1">
                <a:solidFill>
                  <a:srgbClr val="64748B"/>
                </a:solidFill>
                <a:latin typeface="Segoe UI"/>
              </a:defRPr>
            </a:pPr>
            <a:r>
              <a:t>Cost Avoidance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Avoids 15-30% capital cost escalations on highway/rail corridors.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100% open-source core stack cuts recurring proprietary licensing fees.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Low compute footprint cuts server CapEx.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9441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POTENTIAL CHALLENGES, RISKS &amp; STRATEGIC MITIGATIONS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79976"/>
            <a:ext cx="10424160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⚠ CHALLENGE: Data Incompleteness &amp; Cold-Start Scarcity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Risk: Newly digitized tehsils or revenue divisions may lack historical project performance records.  ➔  Mitigation: Hybrid architecture combining statutory milestone clocks with ML, bootstrapping confidence as survey data accumulates.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56048"/>
            <a:ext cx="10728655" cy="56692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92624"/>
            <a:ext cx="10424160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070C0"/>
                </a:solidFill>
                <a:latin typeface="Segoe UI"/>
              </a:defRPr>
            </a:pPr>
            <a:r>
              <a:t>⚠ CHALLENGE: Legacy Record Discrepancies &amp; Name Variations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Risk: Spelling variations between handwritten RoR deeds, voter IDs, and bank passes stall compensation.  ➔  Mitigation: RapidFuzz Levenshtein string-similarity OCR discrepancy pipeline flags mismatches for proactive review before bank submission.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68696"/>
            <a:ext cx="10728655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05272"/>
            <a:ext cx="10424160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D5C3A"/>
                </a:solidFill>
                <a:latin typeface="Segoe UI"/>
              </a:defRPr>
            </a:pPr>
            <a:r>
              <a:t>⚠ CHALLENGE: Field Resistance &amp; Officer AI Skepticism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Risk: Revenue staff may distrust automated 'black-box' delay predictions or fear administrative surveillance.  ➔  Mitigation: White-Box SHAP Explainability shows exact legal reasons (+38% dispute, +28% survey lag), acting as a helpful paperwork assistant.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70C0"/>
                </a:solidFill>
                <a:latin typeface="Segoe UI"/>
              </a:defRPr>
            </a:pPr>
            <a:r>
              <a:t>Potential Impact on Target Audience &amp; Multi-Dimensional Benefits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Social, Economic, and Governance Value Proposition with Simulation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035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POTENTIAL IMPACT ON TARGET AUDIENCE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493776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76856"/>
            <a:ext cx="4754880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F2744"/>
                </a:solidFill>
                <a:latin typeface="Segoe UI"/>
              </a:defRPr>
            </a:pPr>
            <a:r>
              <a:t>👤 Land Acquisition Officer (LAO) — Strategic Executive Visibility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Corridor-Wide View: Instantly filters cases by risk tiers across tehsils.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Proactive Bottleneck Elimination: Reallocates survey teams to high-risk zones 3-6 months before deadlines lapse.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Automated Reporting: Eliminates weeks of manual progress compilation.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27832"/>
            <a:ext cx="493776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64408"/>
            <a:ext cx="4754880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D5C3A"/>
                </a:solidFill>
                <a:latin typeface="Segoe UI"/>
              </a:defRPr>
            </a:pPr>
            <a:r>
              <a:t>👤 Survey Officer (SO) — Precision Cadastral Field Guidance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Visual Demarcation: Clearly isolates 0.5-acre required plot from 1-acre parcel.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Conflict Spotting: Problematic / disputed co-sharer strips are pre-flagged in red.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Rapid Survey Sign-off: Closes verification cycles in days instead of months.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4"/>
            <a:ext cx="493776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4754880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F2744"/>
                </a:solidFill>
                <a:latin typeface="Segoe UI"/>
              </a:defRPr>
            </a:pPr>
            <a:r>
              <a:t>👤 Compensation Officer (CO) — Leakage-Proof Disbursement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9-Stage Milestone Pipeline: Transparent tracking from award sanction to RTGS.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Zero Fraud: Cross-checks RoR title records against bank passbook OCR scans.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Reduced Audit Queries: Complete tamper-evident transaction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02936"/>
            <a:ext cx="493776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39512"/>
            <a:ext cx="4754880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D5C3A"/>
                </a:solidFill>
                <a:latin typeface="Segoe UI"/>
              </a:defRPr>
            </a:pPr>
            <a:r>
              <a:t>👤 Landowners &amp; Farmers — Dignity, Transparency &amp; Timely Payouts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Multilingual Access: Farmers view parcel status in English, Hindi, or Odia.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Grievance Transparency: Digital ticket tracking eliminates repeated office visits.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Fairness: Early conflict identification enables mediated settlement.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37360"/>
            <a:ext cx="560801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44"/>
                </a:solidFill>
                <a:latin typeface="Segoe UI"/>
              </a:defRPr>
            </a:pPr>
            <a:r>
              <a:t>MULTI-DIMENSIONAL BENEFITS &amp; BENCHMARKS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40280"/>
            <a:ext cx="5242255" cy="8412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276856"/>
            <a:ext cx="5029200" cy="768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F2744"/>
                </a:solidFill>
                <a:latin typeface="Segoe UI"/>
              </a:defRPr>
            </a:pPr>
            <a:r>
              <a:t>★ ECONOMIC BENEFITS (National Capital Efficiency)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Drastic Reduction in Capital Idling: National Highway projects incur crores per month in financing costs during delay stays.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Faster Monetization: Accelerates PM GatiShakti multi-modal logistics corridors.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36392"/>
            <a:ext cx="5242255" cy="8412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72968"/>
            <a:ext cx="5029200" cy="768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0D5C3A"/>
                </a:solidFill>
                <a:latin typeface="Segoe UI"/>
              </a:defRPr>
            </a:pPr>
            <a:r>
              <a:t>★ SOCIAL &amp; COMMUNITY BENEFITS (Farmer Welfare)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Eliminates Intermediaries: Direct DBT compensation tracking protects rural titleholders.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Accelerated Rehabilitation &amp; Resettlement (R&amp;R) package disbursement.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32504"/>
            <a:ext cx="5242255" cy="8412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069080"/>
            <a:ext cx="5029200" cy="768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★ GOVERNANCE &amp; ADMINISTRATIVE INTEGRITY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Statutory Compliance: Enforces RFCTLARR Act 2013 legal milestones (Sec 25 lapse prevention).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Data-Driven Accountability: Quantifiable officer performance audit logs.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83480"/>
            <a:ext cx="524225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029200"/>
            <a:ext cx="50292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2744"/>
                </a:solidFill>
                <a:latin typeface="Segoe UI"/>
              </a:defRPr>
            </a:pPr>
            <a:r>
              <a:t>PROTOTYPE OBJECTIVE TARGETS (SIMULATION BENCHMARKS):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Early Risk Visibility: Day 0 vs Day 180+ — Flags high delay probability upon initial case registration.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Survey Demarcation Speed: 60% Faster Triage — Isolates disputed land slices so undisputed plots proceed.</a:t>
            </a:r>
          </a:p>
          <a:p>
            <a:pPr>
              <a:defRPr sz="720">
                <a:solidFill>
                  <a:srgbClr val="0F172A"/>
                </a:solidFill>
                <a:latin typeface="Segoe UI"/>
              </a:defRPr>
            </a:pPr>
            <a:r>
              <a:t>• Grievance Redressal Cycle: &lt;72 Hr SLA — Direct digital tracking avoids physical tehsil visits.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70C0"/>
                </a:solidFill>
                <a:latin typeface="Segoe UI"/>
              </a:defRPr>
            </a:pPr>
            <a:r>
              <a:t>Details and Links of Reference and Research Work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Statutory Frameworks, Empirical Audit Studies, Peer-Reviewed AI Research &amp; Implementation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035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10512"/>
            <a:ext cx="502920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2744"/>
                </a:solidFill>
                <a:latin typeface="Segoe UI"/>
              </a:defRPr>
            </a:pPr>
            <a:r>
              <a:t>1. STATUTORY &amp; POLICY FRAMEWORKS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Right to Fair Compensation &amp; Transparency in Land Acquisition (RFCTLARR Act, 2013): Ministry of Rural Development, GoI. Statutory milestones: Sec 11 (Preliminary Notification), Sec 19 (Declaration), Sec 25 (Lapsing of award period if delayed &gt;12 months).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Digital India Land Records Modernization Programme (DILRMP): Department of Land Resources (DoLR), GoI. Guidelines for cadastral parcel digitization, computerized RoR maintenance, and integration with registration authorities.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PM GatiShakti National Master Plan: Logistics Division, DPIIT. Multi-modal infrastructure coordination principles to eliminate departmental silos and accelerate project clearance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3035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10512"/>
            <a:ext cx="502920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2744"/>
                </a:solidFill>
                <a:latin typeface="Segoe UI"/>
              </a:defRPr>
            </a:pPr>
            <a:r>
              <a:t>2. EMPIRICAL STUDIES &amp; AUDIT REPORTS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CAG Audit Report on National Highway Corridors (Report No. 19 of 2020): Comptroller &amp; Auditor General of India. Documented that 68% of highway delays stem from delayed land handover, pending joint cadastral surveys, and stalled compensation.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MoSPI Monthly Flash Reports on Infrastructure Projects: Ministry of Statistics &amp; Programme Implementation (MoSPI). Consistent analysis identifying land acquisition litigation and disputed titles as the primary driver of cost overruns.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NITI Aayog Research Paper on Land Governance &amp; Titling: Highlighting land dispute resolution mechanisms and conclusive titling reforms across Indian States (State Bhulekh &amp; Bhoomi portals).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50792"/>
            <a:ext cx="5029200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2744"/>
                </a:solidFill>
                <a:latin typeface="Segoe UI"/>
              </a:defRPr>
            </a:pPr>
            <a:r>
              <a:t>3. AI/ML &amp; GEOSPATIAL RESEARCH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Explainable Artificial Intelligence (SHAP Framework): Lundberg, S. M., &amp; Lee, S. I. (NeurIPS 2017). 'A Unified Approach to Interpreting Model Predictions.' Applied via TreeExplainer for legally accountable feature attribution in public administration.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Ensemble Modeling for Tabular Delay Prediction: Breiman, L. (2001). 'Random Forests.' Applied for high-dimensional tabular risk estimation across 17 statutory case features with robust noise resilience.</a:t>
            </a:r>
          </a:p>
          <a:p>
            <a:pPr>
              <a:defRPr sz="680">
                <a:solidFill>
                  <a:srgbClr val="0F172A"/>
                </a:solidFill>
                <a:latin typeface="Segoe UI"/>
              </a:defRPr>
            </a:pPr>
            <a:r>
              <a:t>• OGC Geospatial &amp; GeoJSON Standards: Open Geospatial Consortium (OGC) specifications for Cadastral Boundary Models, DGPS coordinates, and parcel topology partitioning.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7764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50792"/>
            <a:ext cx="5029200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2744"/>
                </a:solidFill>
                <a:latin typeface="Segoe UI"/>
              </a:defRPr>
            </a:pPr>
            <a:r>
              <a:t>4. IMPLEMENTATION HONESTY &amp; ROADMAP</a:t>
            </a:r>
          </a:p>
          <a:p>
            <a:pPr>
              <a:defRPr sz="750" b="1">
                <a:solidFill>
                  <a:srgbClr val="0D5C3A"/>
                </a:solidFill>
                <a:latin typeface="Segoe UI"/>
              </a:defRPr>
            </a:pPr>
            <a:r>
              <a:t>✔ PROTOTYPE IMPLEMENTATION (Fully Built in Repository):</a:t>
            </a:r>
          </a:p>
          <a:p>
            <a:pPr>
              <a:defRPr sz="650">
                <a:solidFill>
                  <a:srgbClr val="0F172A"/>
                </a:solidFill>
                <a:latin typeface="Segoe UI"/>
              </a:defRPr>
            </a:pPr>
            <a:r>
              <a:t>• End-to-end working software: FastAPI backend, React 18 frontend, SQLite/PostGIS.</a:t>
            </a:r>
            <a:br/>
            <a:r>
              <a:t>• Dual ML models: Classifier (92.8% Acc) + Regressor (MAE 20.6d) trained on 2,000+ records.</a:t>
            </a:r>
            <a:br/>
            <a:r>
              <a:t>• Cadastral plot visualization prototype with 1-acre to 0.5-acre parcel slicing &amp; dispute alerts.</a:t>
            </a:r>
            <a:br/>
            <a:r>
              <a:t>• 4-Role RBAC authentication, RapidFuzz OCR discrepancy engine, dynamic risk loop.</a:t>
            </a:r>
          </a:p>
          <a:p>
            <a:pPr>
              <a:defRPr sz="750" b="1">
                <a:solidFill>
                  <a:srgbClr val="1B365D"/>
                </a:solidFill>
                <a:latin typeface="Segoe UI"/>
              </a:defRPr>
            </a:pPr>
            <a:r>
              <a:t>✔ FUTURE INTEGRATION ROADMAP (Production Scaling):</a:t>
            </a:r>
          </a:p>
          <a:p>
            <a:pPr>
              <a:defRPr sz="650">
                <a:solidFill>
                  <a:srgbClr val="0F172A"/>
                </a:solidFill>
                <a:latin typeface="Segoe UI"/>
              </a:defRPr>
            </a:pPr>
            <a:r>
              <a:t>• Direct API federation with State Land Portals (e.g. Odisha Bhulekh, Karnataka Bhoomi).</a:t>
            </a:r>
            <a:br/>
            <a:r>
              <a:t>• Drone/LiDAR orthomosaic imagery overlay for automated physical encroachment detection.</a:t>
            </a:r>
            <a:br/>
            <a:r>
              <a:t>• Tamper-proof hyperledger audit trail for immutable award disbursement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